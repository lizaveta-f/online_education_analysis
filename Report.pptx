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58" r:id="rId5"/>
    <p:sldId id="262" r:id="rId6"/>
    <p:sldId id="259" r:id="rId7"/>
    <p:sldId id="263"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72" d="100"/>
          <a:sy n="72" d="100"/>
        </p:scale>
        <p:origin x="57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GB"/>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ED1C14C-A143-42F5-B247-D0E800131009}" type="datetimeFigureOut">
              <a:rPr lang="en-US" smtClean="0"/>
              <a:t>5/1/2023</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B03D32D-F1BC-4E9C-97E1-36CFF5B2234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8665979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ED1C14C-A143-42F5-B247-D0E800131009}"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781393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GB"/>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ED1C14C-A143-42F5-B247-D0E800131009}"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3173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ED1C14C-A143-42F5-B247-D0E800131009}"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77077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GB"/>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ED1C14C-A143-42F5-B247-D0E800131009}" type="datetimeFigureOut">
              <a:rPr lang="en-US" smtClean="0"/>
              <a:t>5/1/2023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66351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ED1C14C-A143-42F5-B247-D0E800131009}" type="datetimeFigureOut">
              <a:rPr lang="en-US" smtClean="0"/>
              <a:t>5/1/2023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06936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D1C14C-A143-42F5-B247-D0E800131009}" type="datetimeFigureOut">
              <a:rPr lang="en-US" smtClean="0"/>
              <a:t>5/1/2023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3160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ED1C14C-A143-42F5-B247-D0E800131009}"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65882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ED1C14C-A143-42F5-B247-D0E800131009}" type="datetimeFigureOut">
              <a:rPr lang="en-US" smtClean="0"/>
              <a:t>5/1/2023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067696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ED1C14C-A143-42F5-B247-D0E800131009}"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04372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ED1C14C-A143-42F5-B247-D0E800131009}" type="datetimeFigureOut">
              <a:rPr lang="en-US" smtClean="0"/>
              <a:t>5/1/2023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34562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ED1C14C-A143-42F5-B247-D0E800131009}" type="datetimeFigureOut">
              <a:rPr lang="en-US" smtClean="0"/>
              <a:t>5/1/2023</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24176312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ublic.tableau.com/views/OnlineeducationonUdemy/Story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1">
            <a:extLst>
              <a:ext uri="{FF2B5EF4-FFF2-40B4-BE49-F238E27FC236}">
                <a16:creationId xmlns:a16="http://schemas.microsoft.com/office/drawing/2014/main" id="{4F2B9F5B-F601-49F4-9D97-81539ACE9FC9}"/>
              </a:ext>
            </a:extLst>
          </p:cNvPr>
          <p:cNvSpPr>
            <a:spLocks noGrp="1"/>
          </p:cNvSpPr>
          <p:nvPr>
            <p:ph type="ctrTitle"/>
          </p:nvPr>
        </p:nvSpPr>
        <p:spPr>
          <a:xfrm>
            <a:off x="1778708" y="2213112"/>
            <a:ext cx="9418320" cy="2123661"/>
          </a:xfrm>
        </p:spPr>
        <p:txBody>
          <a:bodyPr/>
          <a:lstStyle/>
          <a:p>
            <a:pPr algn="ctr"/>
            <a:r>
              <a:rPr lang="en-us" dirty="0">
                <a:hlinkClick r:id="rId2"/>
              </a:rPr>
              <a:t>Online education on Udemy</a:t>
            </a:r>
            <a:endParaRPr lang="en-us" dirty="0">
              <a:hlinkClick r:id="rId2"/>
            </a:endParaRPr>
          </a:p>
        </p:txBody>
      </p:sp>
    </p:spTree>
    <p:extLst>
      <p:ext uri="{BB962C8B-B14F-4D97-AF65-F5344CB8AC3E}">
        <p14:creationId xmlns:p14="http://schemas.microsoft.com/office/powerpoint/2010/main" val="9599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 descr="Story 11">
            <a:extLst>
              <a:ext uri="{FF2B5EF4-FFF2-40B4-BE49-F238E27FC236}">
                <a16:creationId xmlns:a16="http://schemas.microsoft.com/office/drawing/2014/main" id="{9A1F00CF-A34A-4382-A165-C3B6717203B1}"/>
              </a:ext>
            </a:extLst>
          </p:cNvPr>
          <p:cNvPicPr>
            <a:picLocks noChangeAspect="1"/>
          </p:cNvPicPr>
          <p:nvPr/>
        </p:nvPicPr>
        <p:blipFill rotWithShape="1">
          <a:blip r:embed="rId2">
            <a:extLst>
              <a:ext uri="{28A0092B-C50C-407E-A947-70E740481C1C}">
                <a14:useLocalDpi xmlns:a14="http://schemas.microsoft.com/office/drawing/2010/main" val="0"/>
              </a:ext>
            </a:extLst>
          </a:blip>
          <a:srcRect t="16206" b="47748"/>
          <a:stretch/>
        </p:blipFill>
        <p:spPr>
          <a:xfrm>
            <a:off x="742121" y="1351722"/>
            <a:ext cx="11022043" cy="3869634"/>
          </a:xfrm>
          <a:prstGeom prst="rect">
            <a:avLst/>
          </a:prstGeom>
        </p:spPr>
      </p:pic>
      <p:sp>
        <p:nvSpPr>
          <p:cNvPr id="4" name="Title 1">
            <a:extLst>
              <a:ext uri="{FF2B5EF4-FFF2-40B4-BE49-F238E27FC236}">
                <a16:creationId xmlns:a16="http://schemas.microsoft.com/office/drawing/2014/main" id="{831E4141-5D86-5085-431C-02FDD0A30D75}"/>
              </a:ext>
            </a:extLst>
          </p:cNvPr>
          <p:cNvSpPr txBox="1">
            <a:spLocks/>
          </p:cNvSpPr>
          <p:nvPr/>
        </p:nvSpPr>
        <p:spPr>
          <a:xfrm>
            <a:off x="742121" y="453052"/>
            <a:ext cx="9692640" cy="67090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sz="3900" dirty="0"/>
              <a:t>Price VS Subject</a:t>
            </a:r>
            <a:endParaRPr lang="ru-RU" sz="3900" dirty="0"/>
          </a:p>
        </p:txBody>
      </p:sp>
      <p:sp>
        <p:nvSpPr>
          <p:cNvPr id="5" name="TextBox 4">
            <a:extLst>
              <a:ext uri="{FF2B5EF4-FFF2-40B4-BE49-F238E27FC236}">
                <a16:creationId xmlns:a16="http://schemas.microsoft.com/office/drawing/2014/main" id="{918C5337-2B6C-0FDD-8C32-AF37C0C49014}"/>
              </a:ext>
            </a:extLst>
          </p:cNvPr>
          <p:cNvSpPr txBox="1"/>
          <p:nvPr/>
        </p:nvSpPr>
        <p:spPr>
          <a:xfrm>
            <a:off x="742121" y="5506278"/>
            <a:ext cx="8214108" cy="369332"/>
          </a:xfrm>
          <a:prstGeom prst="rect">
            <a:avLst/>
          </a:prstGeom>
          <a:noFill/>
        </p:spPr>
        <p:txBody>
          <a:bodyPr wrap="none" rtlCol="0">
            <a:spAutoFit/>
          </a:bodyPr>
          <a:lstStyle/>
          <a:p>
            <a:r>
              <a:rPr lang="en-US" dirty="0"/>
              <a:t>As we can see the most courses on Udemy are at price range from 20 to 60$.</a:t>
            </a:r>
            <a:endParaRPr lang="ru-RU" dirty="0"/>
          </a:p>
        </p:txBody>
      </p:sp>
    </p:spTree>
    <p:extLst>
      <p:ext uri="{BB962C8B-B14F-4D97-AF65-F5344CB8AC3E}">
        <p14:creationId xmlns:p14="http://schemas.microsoft.com/office/powerpoint/2010/main" val="95992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8EF5-7BBE-65B8-50A8-B664BF111A11}"/>
              </a:ext>
            </a:extLst>
          </p:cNvPr>
          <p:cNvSpPr>
            <a:spLocks noGrp="1"/>
          </p:cNvSpPr>
          <p:nvPr>
            <p:ph type="title"/>
          </p:nvPr>
        </p:nvSpPr>
        <p:spPr>
          <a:xfrm>
            <a:off x="613141" y="426547"/>
            <a:ext cx="9692640" cy="670905"/>
          </a:xfrm>
        </p:spPr>
        <p:txBody>
          <a:bodyPr>
            <a:normAutofit/>
          </a:bodyPr>
          <a:lstStyle/>
          <a:p>
            <a:r>
              <a:rPr lang="en-US" sz="3900" dirty="0"/>
              <a:t>Top5 expensive courses by subject</a:t>
            </a:r>
            <a:endParaRPr lang="ru-RU" sz="3900" dirty="0"/>
          </a:p>
        </p:txBody>
      </p:sp>
      <p:pic>
        <p:nvPicPr>
          <p:cNvPr id="4" name="slide2" descr="Story 11">
            <a:extLst>
              <a:ext uri="{FF2B5EF4-FFF2-40B4-BE49-F238E27FC236}">
                <a16:creationId xmlns:a16="http://schemas.microsoft.com/office/drawing/2014/main" id="{F4B03CA5-8509-6C90-8B65-5BA69991343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56140" r="16349" b="6435"/>
          <a:stretch/>
        </p:blipFill>
        <p:spPr>
          <a:xfrm>
            <a:off x="318052" y="1348408"/>
            <a:ext cx="10282818" cy="4161183"/>
          </a:xfrm>
          <a:prstGeom prst="rect">
            <a:avLst/>
          </a:prstGeom>
        </p:spPr>
      </p:pic>
    </p:spTree>
    <p:extLst>
      <p:ext uri="{BB962C8B-B14F-4D97-AF65-F5344CB8AC3E}">
        <p14:creationId xmlns:p14="http://schemas.microsoft.com/office/powerpoint/2010/main" val="3742745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3" descr="Story 12">
            <a:extLst>
              <a:ext uri="{FF2B5EF4-FFF2-40B4-BE49-F238E27FC236}">
                <a16:creationId xmlns:a16="http://schemas.microsoft.com/office/drawing/2014/main" id="{C7828DB7-D6BF-43B7-9964-A67228C551C9}"/>
              </a:ext>
            </a:extLst>
          </p:cNvPr>
          <p:cNvPicPr>
            <a:picLocks noChangeAspect="1"/>
          </p:cNvPicPr>
          <p:nvPr/>
        </p:nvPicPr>
        <p:blipFill rotWithShape="1">
          <a:blip r:embed="rId2">
            <a:extLst>
              <a:ext uri="{28A0092B-C50C-407E-A947-70E740481C1C}">
                <a14:useLocalDpi xmlns:a14="http://schemas.microsoft.com/office/drawing/2010/main" val="0"/>
              </a:ext>
            </a:extLst>
          </a:blip>
          <a:srcRect t="16425" r="8199" b="46860"/>
          <a:stretch/>
        </p:blipFill>
        <p:spPr>
          <a:xfrm>
            <a:off x="914799" y="1229139"/>
            <a:ext cx="10066986" cy="3819940"/>
          </a:xfrm>
          <a:prstGeom prst="rect">
            <a:avLst/>
          </a:prstGeom>
        </p:spPr>
      </p:pic>
      <p:sp>
        <p:nvSpPr>
          <p:cNvPr id="2" name="Title 1">
            <a:extLst>
              <a:ext uri="{FF2B5EF4-FFF2-40B4-BE49-F238E27FC236}">
                <a16:creationId xmlns:a16="http://schemas.microsoft.com/office/drawing/2014/main" id="{D232919C-2E0E-E500-A227-27C283525626}"/>
              </a:ext>
            </a:extLst>
          </p:cNvPr>
          <p:cNvSpPr txBox="1">
            <a:spLocks/>
          </p:cNvSpPr>
          <p:nvPr/>
        </p:nvSpPr>
        <p:spPr>
          <a:xfrm>
            <a:off x="908230" y="333782"/>
            <a:ext cx="9692640" cy="67090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sz="4000" dirty="0"/>
              <a:t>Popularity VS Type of payment</a:t>
            </a:r>
            <a:endParaRPr lang="ru-RU" sz="4000" dirty="0"/>
          </a:p>
        </p:txBody>
      </p:sp>
      <p:sp>
        <p:nvSpPr>
          <p:cNvPr id="4" name="TextBox 3">
            <a:extLst>
              <a:ext uri="{FF2B5EF4-FFF2-40B4-BE49-F238E27FC236}">
                <a16:creationId xmlns:a16="http://schemas.microsoft.com/office/drawing/2014/main" id="{7919327B-A06B-161F-C13D-81738538B1AD}"/>
              </a:ext>
            </a:extLst>
          </p:cNvPr>
          <p:cNvSpPr txBox="1"/>
          <p:nvPr/>
        </p:nvSpPr>
        <p:spPr>
          <a:xfrm>
            <a:off x="908230" y="5444195"/>
            <a:ext cx="10625025" cy="646331"/>
          </a:xfrm>
          <a:prstGeom prst="rect">
            <a:avLst/>
          </a:prstGeom>
          <a:noFill/>
        </p:spPr>
        <p:txBody>
          <a:bodyPr wrap="none" rtlCol="0">
            <a:spAutoFit/>
          </a:bodyPr>
          <a:lstStyle/>
          <a:p>
            <a:r>
              <a:rPr lang="en-US" dirty="0"/>
              <a:t>The bar chart displays that most courses on Udemy is paid, but overall percentage of free courses </a:t>
            </a:r>
          </a:p>
          <a:p>
            <a:r>
              <a:rPr lang="en-US" dirty="0"/>
              <a:t>by subject is around 50% from paid courses.</a:t>
            </a:r>
            <a:endParaRPr lang="ru-RU" dirty="0"/>
          </a:p>
        </p:txBody>
      </p:sp>
    </p:spTree>
    <p:extLst>
      <p:ext uri="{BB962C8B-B14F-4D97-AF65-F5344CB8AC3E}">
        <p14:creationId xmlns:p14="http://schemas.microsoft.com/office/powerpoint/2010/main" val="95992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E3B44-8BC6-C068-3F24-5A672F0E5851}"/>
              </a:ext>
            </a:extLst>
          </p:cNvPr>
          <p:cNvSpPr>
            <a:spLocks noGrp="1"/>
          </p:cNvSpPr>
          <p:nvPr>
            <p:ph type="title"/>
          </p:nvPr>
        </p:nvSpPr>
        <p:spPr>
          <a:xfrm>
            <a:off x="917449" y="427583"/>
            <a:ext cx="4834128" cy="804218"/>
          </a:xfrm>
        </p:spPr>
        <p:txBody>
          <a:bodyPr>
            <a:normAutofit/>
          </a:bodyPr>
          <a:lstStyle/>
          <a:p>
            <a:r>
              <a:rPr lang="en-US" sz="3900" dirty="0"/>
              <a:t>Popularity VS Price</a:t>
            </a:r>
            <a:endParaRPr lang="ru-RU" sz="3900" dirty="0"/>
          </a:p>
        </p:txBody>
      </p:sp>
      <p:pic>
        <p:nvPicPr>
          <p:cNvPr id="4" name="slide3" descr="Story 12">
            <a:extLst>
              <a:ext uri="{FF2B5EF4-FFF2-40B4-BE49-F238E27FC236}">
                <a16:creationId xmlns:a16="http://schemas.microsoft.com/office/drawing/2014/main" id="{02CA6720-4CE8-0C60-BA3D-308F5FC22EF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267" t="56870" r="16063" b="6221"/>
          <a:stretch/>
        </p:blipFill>
        <p:spPr>
          <a:xfrm>
            <a:off x="887104" y="1609234"/>
            <a:ext cx="8919505" cy="3824412"/>
          </a:xfrm>
          <a:prstGeom prst="rect">
            <a:avLst/>
          </a:prstGeom>
        </p:spPr>
      </p:pic>
      <p:sp>
        <p:nvSpPr>
          <p:cNvPr id="5" name="TextBox 4">
            <a:extLst>
              <a:ext uri="{FF2B5EF4-FFF2-40B4-BE49-F238E27FC236}">
                <a16:creationId xmlns:a16="http://schemas.microsoft.com/office/drawing/2014/main" id="{868D45E6-C4B3-6177-9DD9-4F3A4CCA9BD8}"/>
              </a:ext>
            </a:extLst>
          </p:cNvPr>
          <p:cNvSpPr txBox="1"/>
          <p:nvPr/>
        </p:nvSpPr>
        <p:spPr>
          <a:xfrm>
            <a:off x="887104" y="5685183"/>
            <a:ext cx="9728946" cy="944209"/>
          </a:xfrm>
          <a:prstGeom prst="rect">
            <a:avLst/>
          </a:prstGeom>
          <a:noFill/>
        </p:spPr>
        <p:txBody>
          <a:bodyPr wrap="square" rtlCol="0">
            <a:spAutoFit/>
          </a:bodyPr>
          <a:lstStyle/>
          <a:p>
            <a:r>
              <a:rPr lang="en-US" dirty="0"/>
              <a:t>The graph shows that Web development courses are the most in demand and the most </a:t>
            </a:r>
          </a:p>
          <a:p>
            <a:r>
              <a:rPr lang="en-US" dirty="0"/>
              <a:t>expensive as well, Business and Finance courses go next in terms of popularity by a wide </a:t>
            </a:r>
          </a:p>
          <a:p>
            <a:r>
              <a:rPr lang="en-US" dirty="0"/>
              <a:t>margin, but the average price doesn’t differ much.</a:t>
            </a:r>
            <a:endParaRPr lang="ru-RU" dirty="0"/>
          </a:p>
        </p:txBody>
      </p:sp>
    </p:spTree>
    <p:extLst>
      <p:ext uri="{BB962C8B-B14F-4D97-AF65-F5344CB8AC3E}">
        <p14:creationId xmlns:p14="http://schemas.microsoft.com/office/powerpoint/2010/main" val="2277822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lide4" descr="Story 13">
            <a:extLst>
              <a:ext uri="{FF2B5EF4-FFF2-40B4-BE49-F238E27FC236}">
                <a16:creationId xmlns:a16="http://schemas.microsoft.com/office/drawing/2014/main" id="{0ABF0DB1-7F0A-4EE0-8DF3-041C31800BE3}"/>
              </a:ext>
            </a:extLst>
          </p:cNvPr>
          <p:cNvPicPr>
            <a:picLocks noChangeAspect="1"/>
          </p:cNvPicPr>
          <p:nvPr/>
        </p:nvPicPr>
        <p:blipFill rotWithShape="1">
          <a:blip r:embed="rId2">
            <a:extLst>
              <a:ext uri="{28A0092B-C50C-407E-A947-70E740481C1C}">
                <a14:useLocalDpi xmlns:a14="http://schemas.microsoft.com/office/drawing/2010/main" val="0"/>
              </a:ext>
            </a:extLst>
          </a:blip>
          <a:srcRect l="1599" t="56812" r="16266" b="3768"/>
          <a:stretch/>
        </p:blipFill>
        <p:spPr>
          <a:xfrm>
            <a:off x="696196" y="1560608"/>
            <a:ext cx="5294242" cy="2921839"/>
          </a:xfrm>
          <a:prstGeom prst="rect">
            <a:avLst/>
          </a:prstGeom>
        </p:spPr>
      </p:pic>
      <p:sp>
        <p:nvSpPr>
          <p:cNvPr id="2" name="Title 1">
            <a:extLst>
              <a:ext uri="{FF2B5EF4-FFF2-40B4-BE49-F238E27FC236}">
                <a16:creationId xmlns:a16="http://schemas.microsoft.com/office/drawing/2014/main" id="{626973D4-3805-3D79-A631-19A47AEE3B36}"/>
              </a:ext>
            </a:extLst>
          </p:cNvPr>
          <p:cNvSpPr txBox="1">
            <a:spLocks/>
          </p:cNvSpPr>
          <p:nvPr/>
        </p:nvSpPr>
        <p:spPr>
          <a:xfrm>
            <a:off x="908230" y="333782"/>
            <a:ext cx="9692640" cy="67090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sz="4000" dirty="0"/>
              <a:t>Price VS Subscribers</a:t>
            </a:r>
            <a:endParaRPr lang="ru-RU" sz="4000" dirty="0"/>
          </a:p>
        </p:txBody>
      </p:sp>
      <p:pic>
        <p:nvPicPr>
          <p:cNvPr id="3" name="Picture 2">
            <a:extLst>
              <a:ext uri="{FF2B5EF4-FFF2-40B4-BE49-F238E27FC236}">
                <a16:creationId xmlns:a16="http://schemas.microsoft.com/office/drawing/2014/main" id="{76818A8F-EB87-4123-74EC-5803D70DB15B}"/>
              </a:ext>
            </a:extLst>
          </p:cNvPr>
          <p:cNvPicPr>
            <a:picLocks noChangeAspect="1"/>
          </p:cNvPicPr>
          <p:nvPr/>
        </p:nvPicPr>
        <p:blipFill>
          <a:blip r:embed="rId3"/>
          <a:stretch>
            <a:fillRect/>
          </a:stretch>
        </p:blipFill>
        <p:spPr>
          <a:xfrm>
            <a:off x="6096000" y="1384357"/>
            <a:ext cx="5940425" cy="3205480"/>
          </a:xfrm>
          <a:prstGeom prst="rect">
            <a:avLst/>
          </a:prstGeom>
        </p:spPr>
      </p:pic>
      <p:sp>
        <p:nvSpPr>
          <p:cNvPr id="6" name="TextBox 5">
            <a:extLst>
              <a:ext uri="{FF2B5EF4-FFF2-40B4-BE49-F238E27FC236}">
                <a16:creationId xmlns:a16="http://schemas.microsoft.com/office/drawing/2014/main" id="{1D3B80AA-D8DF-168F-5456-D6B5AE440CA0}"/>
              </a:ext>
            </a:extLst>
          </p:cNvPr>
          <p:cNvSpPr txBox="1"/>
          <p:nvPr/>
        </p:nvSpPr>
        <p:spPr>
          <a:xfrm>
            <a:off x="908230" y="4991987"/>
            <a:ext cx="10164417" cy="1200329"/>
          </a:xfrm>
          <a:prstGeom prst="rect">
            <a:avLst/>
          </a:prstGeom>
          <a:noFill/>
        </p:spPr>
        <p:txBody>
          <a:bodyPr wrap="square" rtlCol="0">
            <a:spAutoFit/>
          </a:bodyPr>
          <a:lstStyle>
            <a:defPPr>
              <a:defRPr lang="en-US"/>
            </a:defPPr>
          </a:lstStyle>
          <a:p>
            <a:r>
              <a:rPr lang="en-US" dirty="0"/>
              <a:t>In this case, the p-value is greater than 0.05, which means that the observed relationship between the number of subscribers and the course price could be due to chance.</a:t>
            </a:r>
            <a:endParaRPr lang="ru-RU" dirty="0"/>
          </a:p>
          <a:p>
            <a:r>
              <a:rPr lang="en-US" dirty="0"/>
              <a:t>The model shows that 60.2% of the variability in the number of subscribers can be explained by the course price.</a:t>
            </a:r>
            <a:endParaRPr lang="ru-RU" dirty="0"/>
          </a:p>
        </p:txBody>
      </p:sp>
    </p:spTree>
    <p:extLst>
      <p:ext uri="{BB962C8B-B14F-4D97-AF65-F5344CB8AC3E}">
        <p14:creationId xmlns:p14="http://schemas.microsoft.com/office/powerpoint/2010/main" val="9599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44F3D-DA81-ED31-3A74-03E28B5F28B3}"/>
              </a:ext>
            </a:extLst>
          </p:cNvPr>
          <p:cNvSpPr>
            <a:spLocks noGrp="1"/>
          </p:cNvSpPr>
          <p:nvPr>
            <p:ph type="title"/>
          </p:nvPr>
        </p:nvSpPr>
        <p:spPr>
          <a:xfrm>
            <a:off x="983577" y="361201"/>
            <a:ext cx="4542580" cy="723913"/>
          </a:xfrm>
        </p:spPr>
        <p:txBody>
          <a:bodyPr>
            <a:normAutofit/>
          </a:bodyPr>
          <a:lstStyle/>
          <a:p>
            <a:r>
              <a:rPr lang="en-US" sz="3900" dirty="0"/>
              <a:t>Duration VS Price</a:t>
            </a:r>
            <a:endParaRPr lang="ru-RU" sz="3900" dirty="0"/>
          </a:p>
        </p:txBody>
      </p:sp>
      <p:pic>
        <p:nvPicPr>
          <p:cNvPr id="5" name="slide5" descr="Story 14">
            <a:extLst>
              <a:ext uri="{FF2B5EF4-FFF2-40B4-BE49-F238E27FC236}">
                <a16:creationId xmlns:a16="http://schemas.microsoft.com/office/drawing/2014/main" id="{D680864D-DA5B-18AD-AAF4-A8CFE962888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749" t="16141" r="17334" b="47447"/>
          <a:stretch/>
        </p:blipFill>
        <p:spPr>
          <a:xfrm>
            <a:off x="983577" y="1271614"/>
            <a:ext cx="8368145" cy="3572650"/>
          </a:xfrm>
          <a:prstGeom prst="rect">
            <a:avLst/>
          </a:prstGeom>
        </p:spPr>
      </p:pic>
      <p:pic>
        <p:nvPicPr>
          <p:cNvPr id="6" name="slide5" descr="Story 14">
            <a:extLst>
              <a:ext uri="{FF2B5EF4-FFF2-40B4-BE49-F238E27FC236}">
                <a16:creationId xmlns:a16="http://schemas.microsoft.com/office/drawing/2014/main" id="{179E9CCF-896B-9980-0934-6D7E8C8DE86B}"/>
              </a:ext>
            </a:extLst>
          </p:cNvPr>
          <p:cNvPicPr>
            <a:picLocks noChangeAspect="1"/>
          </p:cNvPicPr>
          <p:nvPr/>
        </p:nvPicPr>
        <p:blipFill rotWithShape="1">
          <a:blip r:embed="rId2">
            <a:extLst>
              <a:ext uri="{28A0092B-C50C-407E-A947-70E740481C1C}">
                <a14:useLocalDpi xmlns:a14="http://schemas.microsoft.com/office/drawing/2010/main" val="0"/>
              </a:ext>
            </a:extLst>
          </a:blip>
          <a:srcRect l="82817" t="37488" r="316" b="42029"/>
          <a:stretch/>
        </p:blipFill>
        <p:spPr>
          <a:xfrm>
            <a:off x="9474513" y="2430117"/>
            <a:ext cx="1733910" cy="1997765"/>
          </a:xfrm>
          <a:prstGeom prst="rect">
            <a:avLst/>
          </a:prstGeom>
        </p:spPr>
      </p:pic>
      <p:sp>
        <p:nvSpPr>
          <p:cNvPr id="8" name="TextBox 7">
            <a:extLst>
              <a:ext uri="{FF2B5EF4-FFF2-40B4-BE49-F238E27FC236}">
                <a16:creationId xmlns:a16="http://schemas.microsoft.com/office/drawing/2014/main" id="{CBF885DB-CE94-380D-AC73-E0D9E02672FF}"/>
              </a:ext>
            </a:extLst>
          </p:cNvPr>
          <p:cNvSpPr txBox="1"/>
          <p:nvPr/>
        </p:nvSpPr>
        <p:spPr>
          <a:xfrm>
            <a:off x="882729" y="5124721"/>
            <a:ext cx="9458739" cy="923330"/>
          </a:xfrm>
          <a:prstGeom prst="rect">
            <a:avLst/>
          </a:prstGeom>
          <a:noFill/>
        </p:spPr>
        <p:txBody>
          <a:bodyPr wrap="square" rtlCol="0">
            <a:spAutoFit/>
          </a:bodyPr>
          <a:lstStyle>
            <a:defPPr>
              <a:defRPr lang="en-US"/>
            </a:defPPr>
          </a:lstStyle>
          <a:p>
            <a:r>
              <a:rPr lang="en-US" dirty="0"/>
              <a:t>Based on the chart, we can infer that courses with level of preparation ‘All levels’ have the highest prices and duration. On the other hand, the Expert level courses have the smallest prices and duration.</a:t>
            </a:r>
          </a:p>
        </p:txBody>
      </p:sp>
    </p:spTree>
    <p:extLst>
      <p:ext uri="{BB962C8B-B14F-4D97-AF65-F5344CB8AC3E}">
        <p14:creationId xmlns:p14="http://schemas.microsoft.com/office/powerpoint/2010/main" val="2783199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de5" descr="Story 14">
            <a:extLst>
              <a:ext uri="{FF2B5EF4-FFF2-40B4-BE49-F238E27FC236}">
                <a16:creationId xmlns:a16="http://schemas.microsoft.com/office/drawing/2014/main" id="{947A3CF1-B623-4565-9D1F-AE79FEB3DB2A}"/>
              </a:ext>
            </a:extLst>
          </p:cNvPr>
          <p:cNvPicPr>
            <a:picLocks noChangeAspect="1"/>
          </p:cNvPicPr>
          <p:nvPr/>
        </p:nvPicPr>
        <p:blipFill rotWithShape="1">
          <a:blip r:embed="rId2">
            <a:extLst>
              <a:ext uri="{28A0092B-C50C-407E-A947-70E740481C1C}">
                <a14:useLocalDpi xmlns:a14="http://schemas.microsoft.com/office/drawing/2010/main" val="0"/>
              </a:ext>
            </a:extLst>
          </a:blip>
          <a:srcRect l="1599" t="57021" r="17549" b="7409"/>
          <a:stretch/>
        </p:blipFill>
        <p:spPr>
          <a:xfrm>
            <a:off x="1020417" y="1351722"/>
            <a:ext cx="8825949" cy="3684104"/>
          </a:xfrm>
          <a:prstGeom prst="rect">
            <a:avLst/>
          </a:prstGeom>
        </p:spPr>
      </p:pic>
      <p:sp>
        <p:nvSpPr>
          <p:cNvPr id="2" name="Title 1">
            <a:extLst>
              <a:ext uri="{FF2B5EF4-FFF2-40B4-BE49-F238E27FC236}">
                <a16:creationId xmlns:a16="http://schemas.microsoft.com/office/drawing/2014/main" id="{E2A3CC11-41FE-46B2-8D40-2C003A658245}"/>
              </a:ext>
            </a:extLst>
          </p:cNvPr>
          <p:cNvSpPr txBox="1">
            <a:spLocks/>
          </p:cNvSpPr>
          <p:nvPr/>
        </p:nvSpPr>
        <p:spPr>
          <a:xfrm>
            <a:off x="908230" y="333782"/>
            <a:ext cx="9692640" cy="67090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sz="4000" dirty="0"/>
              <a:t>Reviews</a:t>
            </a:r>
            <a:endParaRPr lang="ru-RU" sz="4000" dirty="0"/>
          </a:p>
        </p:txBody>
      </p:sp>
      <p:sp>
        <p:nvSpPr>
          <p:cNvPr id="3" name="TextBox 2">
            <a:extLst>
              <a:ext uri="{FF2B5EF4-FFF2-40B4-BE49-F238E27FC236}">
                <a16:creationId xmlns:a16="http://schemas.microsoft.com/office/drawing/2014/main" id="{24636E4B-4BA0-5A90-AC56-EB2935013F3D}"/>
              </a:ext>
            </a:extLst>
          </p:cNvPr>
          <p:cNvSpPr txBox="1"/>
          <p:nvPr/>
        </p:nvSpPr>
        <p:spPr>
          <a:xfrm>
            <a:off x="908230" y="5323889"/>
            <a:ext cx="10164417" cy="646331"/>
          </a:xfrm>
          <a:prstGeom prst="rect">
            <a:avLst/>
          </a:prstGeom>
          <a:noFill/>
        </p:spPr>
        <p:txBody>
          <a:bodyPr wrap="square" rtlCol="0">
            <a:spAutoFit/>
          </a:bodyPr>
          <a:lstStyle>
            <a:defPPr>
              <a:defRPr lang="en-US"/>
            </a:defPPr>
          </a:lstStyle>
          <a:p>
            <a:pPr algn="l"/>
            <a:r>
              <a:rPr lang="en-US" b="0" i="0" dirty="0">
                <a:solidFill>
                  <a:srgbClr val="D1D5DB"/>
                </a:solidFill>
                <a:effectLst/>
                <a:latin typeface="Söhne"/>
              </a:rPr>
              <a:t>The bar chart demonstrates that Web development courses have the biggest number of reviews in comparison with other courses.</a:t>
            </a:r>
          </a:p>
        </p:txBody>
      </p:sp>
    </p:spTree>
    <p:extLst>
      <p:ext uri="{BB962C8B-B14F-4D97-AF65-F5344CB8AC3E}">
        <p14:creationId xmlns:p14="http://schemas.microsoft.com/office/powerpoint/2010/main" val="9599258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28</TotalTime>
  <Words>230</Words>
  <Application>Microsoft Office PowerPoint</Application>
  <PresentationFormat>Widescreen</PresentationFormat>
  <Paragraphs>18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Schoolbook</vt:lpstr>
      <vt:lpstr>Söhne</vt:lpstr>
      <vt:lpstr>Wingdings 2</vt:lpstr>
      <vt:lpstr>View</vt:lpstr>
      <vt:lpstr>Online education on Udemy</vt:lpstr>
      <vt:lpstr>PowerPoint Presentation</vt:lpstr>
      <vt:lpstr>Top5 expensive courses by subject</vt:lpstr>
      <vt:lpstr>PowerPoint Presentation</vt:lpstr>
      <vt:lpstr>Popularity VS Price</vt:lpstr>
      <vt:lpstr>PowerPoint Presentation</vt:lpstr>
      <vt:lpstr>Duration VS Price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education on Udemy</dc:title>
  <dc:creator>User</dc:creator>
  <cp:lastModifiedBy>Фадеева Елизавета</cp:lastModifiedBy>
  <cp:revision>1</cp:revision>
  <dcterms:created xsi:type="dcterms:W3CDTF">2023-05-01T21:35:13Z</dcterms:created>
  <dcterms:modified xsi:type="dcterms:W3CDTF">2023-05-01T22:03:26Z</dcterms:modified>
</cp:coreProperties>
</file>